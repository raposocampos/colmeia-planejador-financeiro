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76f929391441fb" /><Relationship Type="http://schemas.openxmlformats.org/officeDocument/2006/relationships/extended-properties" Target="/docProps/app.xml" Id="R522ca309c9234bf4" /><Relationship Type="http://schemas.openxmlformats.org/officeDocument/2006/relationships/officeDocument" Target="/ppt/presentation.xml" Id="Re8a1cc2d7bec4d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9e1e81c5eb466e"/>
  </p:sldMasterIdLst>
  <p:notesMasterIdLst>
    <p:notesMasterId xmlns:r="http://schemas.openxmlformats.org/officeDocument/2006/relationships" r:id="R1a14960a61a843f7"/>
  </p:notesMasterIdLst>
  <p:sldIdLst>
    <p:sldId xmlns:r="http://schemas.openxmlformats.org/officeDocument/2006/relationships" id="256" r:id="Rac4b1c0e876942c4"/>
    <p:sldId xmlns:r="http://schemas.openxmlformats.org/officeDocument/2006/relationships" id="257" r:id="R2200b5fb0274485b"/>
    <p:sldId xmlns:r="http://schemas.openxmlformats.org/officeDocument/2006/relationships" id="258" r:id="R25a9c436adda479c"/>
    <p:sldId xmlns:r="http://schemas.openxmlformats.org/officeDocument/2006/relationships" id="259" r:id="R24dfa1bdeb1c4f92"/>
    <p:sldId xmlns:r="http://schemas.openxmlformats.org/officeDocument/2006/relationships" id="260" r:id="Rb89a2c5346b24c25"/>
    <p:sldId xmlns:r="http://schemas.openxmlformats.org/officeDocument/2006/relationships" id="261" r:id="R9b386d21eab34292"/>
    <p:sldId xmlns:r="http://schemas.openxmlformats.org/officeDocument/2006/relationships" id="262" r:id="R26f43670ce1a4615"/>
    <p:sldId xmlns:r="http://schemas.openxmlformats.org/officeDocument/2006/relationships" id="263" r:id="R89abdfa087a14c90"/>
    <p:sldId xmlns:r="http://schemas.openxmlformats.org/officeDocument/2006/relationships" id="264" r:id="R948b8333e52f4192"/>
    <p:sldId xmlns:r="http://schemas.openxmlformats.org/officeDocument/2006/relationships" id="265" r:id="R9f6ba51ccb4841fa"/>
    <p:sldId xmlns:r="http://schemas.openxmlformats.org/officeDocument/2006/relationships" id="266" r:id="R16ee7f07253b4822"/>
    <p:sldId xmlns:r="http://schemas.openxmlformats.org/officeDocument/2006/relationships" id="267" r:id="R082109ff1d154752"/>
    <p:sldId xmlns:r="http://schemas.openxmlformats.org/officeDocument/2006/relationships" id="268" r:id="Re0fad27f698246d2"/>
    <p:sldId xmlns:r="http://schemas.openxmlformats.org/officeDocument/2006/relationships" id="269" r:id="R25fe919b73b04256"/>
    <p:sldId xmlns:r="http://schemas.openxmlformats.org/officeDocument/2006/relationships" id="270" r:id="Rd7adb14e4dd5434d"/>
    <p:sldId xmlns:r="http://schemas.openxmlformats.org/officeDocument/2006/relationships" id="271" r:id="Rfd170a42addc42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0e32ddfd54ef6" /><Relationship Type="http://schemas.openxmlformats.org/officeDocument/2006/relationships/slideMaster" Target="/ppt/slideMasters/slideMaster1.xml" Id="Rc89e1e81c5eb466e" /><Relationship Type="http://schemas.openxmlformats.org/officeDocument/2006/relationships/notesMaster" Target="/ppt/notesMasters/notesMaster1.xml" Id="R1a14960a61a843f7" /><Relationship Type="http://schemas.openxmlformats.org/officeDocument/2006/relationships/presProps" Target="/ppt/presProps.xml" Id="R0be806fef24e40cf" /><Relationship Type="http://schemas.openxmlformats.org/officeDocument/2006/relationships/tableStyles" Target="/ppt/tableStyles.xml" Id="R05ece652c9b84c8c" /><Relationship Type="http://schemas.openxmlformats.org/officeDocument/2006/relationships/slide" Target="/ppt/slides/slide1.xml" Id="Rac4b1c0e876942c4" /><Relationship Type="http://schemas.openxmlformats.org/officeDocument/2006/relationships/slide" Target="/ppt/slides/slide2.xml" Id="R2200b5fb0274485b" /><Relationship Type="http://schemas.openxmlformats.org/officeDocument/2006/relationships/slide" Target="/ppt/slides/slide3.xml" Id="R25a9c436adda479c" /><Relationship Type="http://schemas.openxmlformats.org/officeDocument/2006/relationships/slide" Target="/ppt/slides/slide4.xml" Id="R24dfa1bdeb1c4f92" /><Relationship Type="http://schemas.openxmlformats.org/officeDocument/2006/relationships/slide" Target="/ppt/slides/slide5.xml" Id="Rb89a2c5346b24c25" /><Relationship Type="http://schemas.openxmlformats.org/officeDocument/2006/relationships/slide" Target="/ppt/slides/slide6.xml" Id="R9b386d21eab34292" /><Relationship Type="http://schemas.openxmlformats.org/officeDocument/2006/relationships/slide" Target="/ppt/slides/slide7.xml" Id="R26f43670ce1a4615" /><Relationship Type="http://schemas.openxmlformats.org/officeDocument/2006/relationships/slide" Target="/ppt/slides/slide8.xml" Id="R89abdfa087a14c90" /><Relationship Type="http://schemas.openxmlformats.org/officeDocument/2006/relationships/slide" Target="/ppt/slides/slide9.xml" Id="R948b8333e52f4192" /><Relationship Type="http://schemas.openxmlformats.org/officeDocument/2006/relationships/slide" Target="/ppt/slides/slide10.xml" Id="R9f6ba51ccb4841fa" /><Relationship Type="http://schemas.openxmlformats.org/officeDocument/2006/relationships/slide" Target="/ppt/slides/slide11.xml" Id="R16ee7f07253b4822" /><Relationship Type="http://schemas.openxmlformats.org/officeDocument/2006/relationships/slide" Target="/ppt/slides/slide12.xml" Id="R082109ff1d154752" /><Relationship Type="http://schemas.openxmlformats.org/officeDocument/2006/relationships/slide" Target="/ppt/slides/slide13.xml" Id="Re0fad27f698246d2" /><Relationship Type="http://schemas.openxmlformats.org/officeDocument/2006/relationships/slide" Target="/ppt/slides/slide14.xml" Id="R25fe919b73b04256" /><Relationship Type="http://schemas.openxmlformats.org/officeDocument/2006/relationships/slide" Target="/ppt/slides/slide15.xml" Id="Rd7adb14e4dd5434d" /><Relationship Type="http://schemas.openxmlformats.org/officeDocument/2006/relationships/slide" Target="/ppt/slides/slide16.xml" Id="Rfd170a42addc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7285eee0a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fd35aee992424e" /><Relationship Type="http://schemas.openxmlformats.org/officeDocument/2006/relationships/notesMaster" Target="/ppt/notesMasters/notesMaster1.xml" Id="R0df845f7658b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9accdf8a8406e" /><Relationship Type="http://schemas.openxmlformats.org/officeDocument/2006/relationships/notesMaster" Target="/ppt/notesMasters/notesMaster1.xml" Id="R8bd027e02a6d4c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fb7f9f4d3b418a" /><Relationship Type="http://schemas.openxmlformats.org/officeDocument/2006/relationships/notesMaster" Target="/ppt/notesMasters/notesMaster1.xml" Id="R5d30d8e49b474f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41f40994cd4cd2" /><Relationship Type="http://schemas.openxmlformats.org/officeDocument/2006/relationships/notesMaster" Target="/ppt/notesMasters/notesMaster1.xml" Id="Rbcd0e3414e6b40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17715872747b3" /><Relationship Type="http://schemas.openxmlformats.org/officeDocument/2006/relationships/notesMaster" Target="/ppt/notesMasters/notesMaster1.xml" Id="Rdcf25f3e06a14c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1cd993ea854cb0" /><Relationship Type="http://schemas.openxmlformats.org/officeDocument/2006/relationships/notesMaster" Target="/ppt/notesMasters/notesMaster1.xml" Id="R2708b64f48204a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5bb01efc6547c3" /><Relationship Type="http://schemas.openxmlformats.org/officeDocument/2006/relationships/notesMaster" Target="/ppt/notesMasters/notesMaster1.xml" Id="R919dc9507bad45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16eda642f74258" /><Relationship Type="http://schemas.openxmlformats.org/officeDocument/2006/relationships/notesMaster" Target="/ppt/notesMasters/notesMaster1.xml" Id="R9c8e72dc3eed4a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dd03a9b86f40f3" /><Relationship Type="http://schemas.openxmlformats.org/officeDocument/2006/relationships/notesMaster" Target="/ppt/notesMasters/notesMaster1.xml" Id="R269cf19bfd6b46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a9b33b091c4a88" /><Relationship Type="http://schemas.openxmlformats.org/officeDocument/2006/relationships/notesMaster" Target="/ppt/notesMasters/notesMaster1.xml" Id="Re5a8d73d51d045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88e3f09b304de6" /><Relationship Type="http://schemas.openxmlformats.org/officeDocument/2006/relationships/notesMaster" Target="/ppt/notesMasters/notesMaster1.xml" Id="Re42c4d1571a345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74cae5a22b4806" /><Relationship Type="http://schemas.openxmlformats.org/officeDocument/2006/relationships/notesMaster" Target="/ppt/notesMasters/notesMaster1.xml" Id="R13b1f8b37ba747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db9b1204074b1c" /><Relationship Type="http://schemas.openxmlformats.org/officeDocument/2006/relationships/notesMaster" Target="/ppt/notesMasters/notesMaster1.xml" Id="Re2d63911756840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b53ae146e5433d" /><Relationship Type="http://schemas.openxmlformats.org/officeDocument/2006/relationships/notesMaster" Target="/ppt/notesMasters/notesMaster1.xml" Id="R382d042cf7ac47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89b624fce9411d" /><Relationship Type="http://schemas.openxmlformats.org/officeDocument/2006/relationships/notesMaster" Target="/ppt/notesMasters/notesMaster1.xml" Id="R73fcadb4d60048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0f5398670a4a74" /><Relationship Type="http://schemas.openxmlformats.org/officeDocument/2006/relationships/notesMaster" Target="/ppt/notesMasters/notesMaster1.xml" Id="Rd430dcb6517a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Direção aprovada por Laura Mendes no Gate G1 em 10/09/2026. Fotografia gerada para a linguagem visual da marca; prompt preservado no arquivo 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histórica: COLMEIA.pdf, autora Laura Mendes, criado no Canva em 06/03/2026.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Essência derivada do produto existente e do posicionamento confirmado no PRODUCT.md.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símbolo de três células é uma evolução proposta para aprovação no G2. O histórico de células permanece como grafismo institucional, não como moldura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paleta mantém os amarelos históricos. Laura Mendes aprovou o marrom quente #7A4526 para campos institucionais no ajuste do Gate G3.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deck usa Bahnschrift e Arial como equivalentes de sistema para manter a edição estável. Os materiais finais e o site usam Saira, Rethink Sans e Caveat, distribuídas sob OFL no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voz da marca deve orientar sem aconselhamento financeiro, julgamento ou promessas de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Fotografia gerada para o projeto. O prompt e a proveniência estão incorporados no arquivo public/brand/plant-photo.png.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local do protótipo em 1487 x 1058, com dados demonstrativos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G2 aprovado por Laura Mendes por e-mail em 10/09/2026. A publicação permanece condicionada ao Gate G3 e à autorização técnica de Lucas.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Laura Mendes aprovou o marrom quente #7A4526 para o campo institucional em 10/09/2026. O símbolo mel alcança contraste gráfico de 4,68:1 sobre esse fundo.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Famílias finais distribuídas sob OFL no kit digital. O deck usa equivalentes de sistema para edição estável.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G3 deve ser aprovado por Laura Mendes antes da publicação; Lucas mantém o go/no-go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ac1f36ab0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93d90eb76f44e0" /><Relationship Type="http://schemas.openxmlformats.org/officeDocument/2006/relationships/slideLayout" Target="/ppt/slideLayouts/slideLayout1.xml" Id="Rb4c47eea32a54d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c47eea32a54d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e1a0f46be4eb3" /><Relationship Type="http://schemas.openxmlformats.org/officeDocument/2006/relationships/image" Target="/ppt/media/image.png" Id="Rf2ffe16783bb405a" /><Relationship Type="http://schemas.openxmlformats.org/officeDocument/2006/relationships/image" Target="/ppt/media/image2.png" Id="R17b01016014d4ba8" /><Relationship Type="http://schemas.openxmlformats.org/officeDocument/2006/relationships/notesSlide" Target="/ppt/notesSlides/notesSlide1.xml" Id="Rf36f4f7ac8d540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3d4ca6c2d4db4" /><Relationship Type="http://schemas.openxmlformats.org/officeDocument/2006/relationships/image" Target="/ppt/media/image3.png" Id="R4c31f513abc44849" /><Relationship Type="http://schemas.openxmlformats.org/officeDocument/2006/relationships/notesSlide" Target="/ppt/notesSlides/notesSlide2.xml" Id="R69d000587f5d4d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db91c889f4cb3" /><Relationship Type="http://schemas.openxmlformats.org/officeDocument/2006/relationships/notesSlide" Target="/ppt/notesSlides/notesSlide3.xml" Id="R78541475971a4c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62a68c5fb491f" /><Relationship Type="http://schemas.openxmlformats.org/officeDocument/2006/relationships/image" Target="/ppt/media/image4.png" Id="R698922180c824bb3" /><Relationship Type="http://schemas.openxmlformats.org/officeDocument/2006/relationships/image" Target="/ppt/media/image5.png" Id="R86d74cc8290b42b2" /><Relationship Type="http://schemas.openxmlformats.org/officeDocument/2006/relationships/notesSlide" Target="/ppt/notesSlides/notesSlide4.xml" Id="R1ae2507bc9a5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aa697b70b43dc" /><Relationship Type="http://schemas.openxmlformats.org/officeDocument/2006/relationships/notesSlide" Target="/ppt/notesSlides/notesSlide5.xml" Id="R71c0332117044f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5d9043d36478b" /><Relationship Type="http://schemas.openxmlformats.org/officeDocument/2006/relationships/notesSlide" Target="/ppt/notesSlides/notesSlide6.xml" Id="R182c8807111541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39cf256244ef3" /><Relationship Type="http://schemas.openxmlformats.org/officeDocument/2006/relationships/notesSlide" Target="/ppt/notesSlides/notesSlide7.xml" Id="R04c79f580e3147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7ae05cfbc4eaa" /><Relationship Type="http://schemas.openxmlformats.org/officeDocument/2006/relationships/image" Target="/ppt/media/image6.png" Id="R2954319831284223" /><Relationship Type="http://schemas.openxmlformats.org/officeDocument/2006/relationships/notesSlide" Target="/ppt/notesSlides/notesSlide8.xml" Id="R36520875dac8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610ce6799401f" /><Relationship Type="http://schemas.openxmlformats.org/officeDocument/2006/relationships/image" Target="/ppt/media/image7.png" Id="Rd5249277a48047a2" /><Relationship Type="http://schemas.openxmlformats.org/officeDocument/2006/relationships/notesSlide" Target="/ppt/notesSlides/notesSlide9.xml" Id="R4389428e3c1f4f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517fa88454c19" /><Relationship Type="http://schemas.openxmlformats.org/officeDocument/2006/relationships/image" Target="/ppt/media/image8.png" Id="Rabe6147c9cc04d43" /><Relationship Type="http://schemas.openxmlformats.org/officeDocument/2006/relationships/notesSlide" Target="/ppt/notesSlides/notesSlide10.xml" Id="R3f785fee64a744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88a9d762b4228" /><Relationship Type="http://schemas.openxmlformats.org/officeDocument/2006/relationships/image" Target="/ppt/media/image9.png" Id="R71400e5c1e4049a0" /><Relationship Type="http://schemas.openxmlformats.org/officeDocument/2006/relationships/image" Target="/ppt/media/image10.png" Id="R2bebbe2219934a12" /><Relationship Type="http://schemas.openxmlformats.org/officeDocument/2006/relationships/image" Target="/ppt/media/image11.png" Id="R70bccc08444e4d1e" /><Relationship Type="http://schemas.openxmlformats.org/officeDocument/2006/relationships/notesSlide" Target="/ppt/notesSlides/notesSlide11.xml" Id="R67663b728be744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e1bf5999d40ea" /><Relationship Type="http://schemas.openxmlformats.org/officeDocument/2006/relationships/notesSlide" Target="/ppt/notesSlides/notesSlide12.xml" Id="Rc658788693e944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4230b9d3841cc" /><Relationship Type="http://schemas.openxmlformats.org/officeDocument/2006/relationships/notesSlide" Target="/ppt/notesSlides/notesSlide13.xml" Id="R7adf5c95092748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f3f4d5132465b" /><Relationship Type="http://schemas.openxmlformats.org/officeDocument/2006/relationships/notesSlide" Target="/ppt/notesSlides/notesSlide14.xml" Id="Rbc97c12e110841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a7abd031046ac" /><Relationship Type="http://schemas.openxmlformats.org/officeDocument/2006/relationships/notesSlide" Target="/ppt/notesSlides/notesSlide15.xml" Id="R54f5d0861d2444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7548a5f1443ba" /><Relationship Type="http://schemas.openxmlformats.org/officeDocument/2006/relationships/image" Target="/ppt/media/image12.png" Id="Rd8ce4e1e07554388" /><Relationship Type="http://schemas.openxmlformats.org/officeDocument/2006/relationships/notesSlide" Target="/ppt/notesSlides/notesSlide16.xml" Id="Ra8f50241077c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7B160-3604-47F4-B625-A7EB6B78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D1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fe16783bb405a"/>
          <a:srcRect xmlns:a="http://schemas.openxmlformats.org/drawingml/2006/main" l="24206" t="0" r="242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FCFF9-81D7-4CC5-AF9F-49B2A68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01016014d4ba8"/>
          <a:stretch xmlns:a="http://schemas.openxmlformats.org/drawingml/2006/main"/>
        </p:blipFill>
        <p:spPr>
          <a:xfrm xmlns:a="http://schemas.openxmlformats.org/drawingml/2006/main">
            <a:off x="704850" y="5905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FC174-BFBE-4B93-A1DE-30E286B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72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COLMEIA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F585D-5F24-4579-A98F-28940AF2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57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EDUCAÇÃO FINANCEIRA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DA734-DAE6-43C3-8285-6D44A1DF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480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Brandbook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8000E-C675-41A7-8053-3668BD62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44A4C"/>
                </a:solidFill>
                <a:latin typeface="Arial"/>
                <a:ea typeface="Arial"/>
                <a:cs typeface="Arial"/>
              </a:rPr>
              <a:t>Direção editorial acolhedora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AAD87-A0D2-444D-989A-D822CE3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99311-AEE4-4E2B-AA67-9EEC8CC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SISTEMA DE MARCA  •  2026</a:t>
            </a:r>
          </a:p>
        </p:txBody>
      </p:sp>
    </p:spTree>
    <p:extLst>
      <p:ext uri="{BB962C8B-B14F-4D97-AF65-F5344CB8AC3E}">
        <p14:creationId xmlns:p14="http://schemas.microsoft.com/office/powerpoint/2010/main" val="1873908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22D1B-80D2-42A0-B163-C89E498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CONTINUIDADE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A6187-CA09-4603-8B71-ACE4C314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A marca que fica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CDA86-E3B5-41C0-B1A2-528D879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D5F14-DB39-4EDA-ABA1-764AE3D0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1f513abc44849"/>
          <a:stretch xmlns:a="http://schemas.openxmlformats.org/drawingml/2006/main"/>
        </p:blipFill>
        <p:spPr>
          <a:xfrm xmlns:a="http://schemas.openxmlformats.org/drawingml/2006/main">
            <a:off x="685800" y="1885950"/>
            <a:ext cx="3638550" cy="3638550"/>
          </a:xfrm>
          <a:prstGeom xmlns:a="http://schemas.openxmlformats.org/drawingml/2006/main" prst="roundRect">
            <a:avLst>
              <a:gd name="adj" fmla="val 366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CA014-450C-4CD8-BDC0-D66FE7F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3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A nova fase preserva o reconhecimento construído pela colmeia, pelo amarelo e pelo preto quente.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6D1D0-A847-4BA8-83C7-FEB6ED5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44A4C"/>
                </a:solidFill>
                <a:latin typeface="Arial"/>
                <a:ea typeface="Arial"/>
                <a:cs typeface="Arial"/>
              </a:rPr>
              <a:t>O nome passa a representar educação financeira. A identidade ganha mais respiro, uma tipografia mais clara e um sistema preparado para produto digital.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94C83-FEF8-4C41-97F3-E1977B93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C617E-0074-4148-924C-EC89F010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MANTER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A734B-BB54-4379-83BA-017B9E84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5191B"/>
                </a:solidFill>
                <a:latin typeface="Arial"/>
                <a:ea typeface="Arial"/>
                <a:cs typeface="Arial"/>
              </a:rPr>
              <a:t>células  •  mel  •  preto quente  •  acolhimento</a:t>
            </a:r>
          </a:p>
        </p:txBody>
      </p:sp>
    </p:spTree>
    <p:extLst>
      <p:ext uri="{BB962C8B-B14F-4D97-AF65-F5344CB8AC3E}">
        <p14:creationId xmlns:p14="http://schemas.microsoft.com/office/powerpoint/2010/main" val="1587489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5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46BAF-D251-401F-B01A-9648B365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ESSÊNCIA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7E891-F61A-4769-A821-D1FE6414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334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Clareza financeira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sem julgamento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70DFD-B4E5-4FAD-ACAC-37A394F0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9E2D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9E2DF"/>
                </a:solidFill>
                <a:latin typeface="Arial"/>
                <a:ea typeface="Arial"/>
                <a:cs typeface="Arial"/>
              </a:rPr>
              <a:t>A Colmeia organiza evidências pessoais e devolve uma leitura simples do mês. A pessoa continua no controle das próprias escolhas.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D9C5-533A-4376-9B8E-9BD9B1B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3543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80E4-C5D0-4882-8A59-B331FB3F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clara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86D5E-43E8-45B4-8704-44DC3438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acolhedora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C7B14-2AFD-40B3-84AD-2D05C15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confiável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2FA8A-84C8-4920-96C0-F009362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organizada</a:t>
            </a:r>
          </a:p>
        </p:txBody>
      </p:sp>
    </p:spTree>
    <p:extLst>
      <p:ext uri="{BB962C8B-B14F-4D97-AF65-F5344CB8AC3E}">
        <p14:creationId xmlns:p14="http://schemas.microsoft.com/office/powerpoint/2010/main" val="404964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B35DE-A06D-41D8-9767-4297C108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IDENTIDADE VISUAL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1F9DF-D150-414A-9A66-44B7C203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Símbolo e assinatura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4D716-A427-4833-9724-C16B854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EDE44-919C-4217-9FBF-AD621A66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922180c824bb3"/>
          <a:stretch xmlns:a="http://schemas.openxmlformats.org/drawingml/2006/main"/>
        </p:blipFill>
        <p:spPr>
          <a:xfrm xmlns:a="http://schemas.openxmlformats.org/drawingml/2006/main">
            <a:off x="876300" y="20383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9D625-279F-4419-92DA-5BA7256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Três células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6833F-1058-4088-B6BF-40F9EC79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44A4C"/>
                </a:solidFill>
                <a:latin typeface="Arial"/>
                <a:ea typeface="Arial"/>
                <a:cs typeface="Arial"/>
              </a:rPr>
              <a:t>Uma forma simples para telas pequenas e pontos de contato rápidos.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B44C3-6DC0-4C1F-A99D-388B97DB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647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74cc8290b42b2"/>
          <a:stretch xmlns:a="http://schemas.openxmlformats.org/drawingml/2006/main"/>
        </p:blipFill>
        <p:spPr>
          <a:xfrm xmlns:a="http://schemas.openxmlformats.org/drawingml/2006/main">
            <a:off x="5238750" y="249555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98BF9-7189-45A7-9543-12306E5D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COLMEIA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F3B90-3875-4066-97BF-2B334B6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861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EDUCAÇÃO FINANCEIRA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24D7D-9B2B-44BE-92CB-63806715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Área de respiro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97A7E-B8A1-470A-90E5-D5A3D6D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Mínimo ao redor: metade da altura de uma célula. Não encaixar o símbolo em novos hexágonos.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7DBB1-1131-4E96-9A7B-BC8661C3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91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Mínimos digitais: símbolo 24 px  •  assinatura 128 px</a:t>
            </a:r>
          </a:p>
        </p:txBody>
      </p:sp>
    </p:spTree>
    <p:extLst>
      <p:ext uri="{BB962C8B-B14F-4D97-AF65-F5344CB8AC3E}">
        <p14:creationId xmlns:p14="http://schemas.microsoft.com/office/powerpoint/2010/main" val="1344117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706BC-EEA6-48C2-8128-632630B9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COR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CF292-9BED-4A64-BDF7-9B8D60F9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Paleta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C6839-74D9-487A-8CF9-6F8DA3C8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572D7-7D60-4F47-8D5F-5E6EB02E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0123F-BB26-46E1-9E61-76996663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562100" cy="2724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CE6F9-7A4F-4CF6-A3FD-F394E97E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Tinta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D6242-10DF-4F76-89D8-53736523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#25191B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2453B-0000-43B5-9E01-957E4BE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62150"/>
            <a:ext cx="1562100" cy="2724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47DFE-089A-4D95-A395-65DFC472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81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Mel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6A83C-4F31-412A-AD13-D43281EE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957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25191B"/>
                </a:solidFill>
                <a:latin typeface="Arial"/>
                <a:ea typeface="Arial"/>
                <a:cs typeface="Arial"/>
              </a:rPr>
              <a:t>#F8C055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B529E-B740-452A-8B9A-5F169A92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1562100" cy="2724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08B68-6EF8-4A55-A827-5B71BC62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Papel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A7695-8F1B-4FA1-AF11-40634C53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957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25191B"/>
                </a:solidFill>
                <a:latin typeface="Arial"/>
                <a:ea typeface="Arial"/>
                <a:cs typeface="Arial"/>
              </a:rPr>
              <a:t>#F7F4ED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CA28A-5400-46F3-AE14-76EDA093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962150"/>
            <a:ext cx="1562100" cy="2724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7A452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BA3BA-D531-4C86-B7D5-E637E69E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81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Campo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C2DBB-3D7E-4FDA-9A56-30675D48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957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#7A4526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5C28F-32D8-4D25-85E5-3A7A55E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62150"/>
            <a:ext cx="1562100" cy="2724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3E79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EEAB3-1CA3-4803-A963-CC0F8BA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Verde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0EB06-89ED-4681-A00E-2D9BE90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957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#3E795A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87F0F-4946-415B-9CEA-5D7130D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962150"/>
            <a:ext cx="1562100" cy="2724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37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C99EB-D5A7-467F-8BB8-22D17FE1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81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Alerta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4DD03-35AE-42E4-8747-FB089ABA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957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#C93746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831CF-6014-4AE2-A0F6-35B289E8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44A4C"/>
                </a:solidFill>
                <a:latin typeface="Arial"/>
                <a:ea typeface="Arial"/>
                <a:cs typeface="Arial"/>
              </a:rPr>
              <a:t>O mel chama atenção. O marrom cria campos institucionais com contraste. Verde e vermelho aparecem somente quando o dado pede significado.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CDAED-3C46-4CA8-8590-3A7C9201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Contraste mínimo: WCAG AA em textos e controles</a:t>
            </a:r>
          </a:p>
        </p:txBody>
      </p:sp>
    </p:spTree>
    <p:extLst>
      <p:ext uri="{BB962C8B-B14F-4D97-AF65-F5344CB8AC3E}">
        <p14:creationId xmlns:p14="http://schemas.microsoft.com/office/powerpoint/2010/main" val="2107884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A01EE-CD8A-46A3-BCA9-B6DCEA1B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TIPOGRAFIA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7B36D-1B41-4D8A-8FE8-A51C0F99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Tipografia com voz humana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1A841-48BF-4A7C-BC66-362951C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7CEEA-9782-4C16-A25C-9706EBDA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F0B0E-AA8D-4583-80E7-1EF8D065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Saira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AA159-1461-4907-AAA2-B355B6F6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44A4C"/>
                </a:solidFill>
                <a:latin typeface="Arial"/>
                <a:ea typeface="Arial"/>
                <a:cs typeface="Arial"/>
              </a:rPr>
              <a:t>Títulos e números que precisam de presença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56E41-2B94-41DC-AE5D-C15182A7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6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Seu dinheiro,</a:t>
            </a:r>
          </a:p>
          <a:p xmlns:a="http://schemas.openxmlformats.org/drawingml/2006/main">
            <a:pPr>
              <a:defRPr sz="36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6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com mais clareza.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AF37E-5B4C-40D4-B3EB-8206D1C6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9525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CAB49-23D0-4A11-8808-102C1F1A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191B"/>
                </a:solidFill>
                <a:latin typeface="Arial"/>
                <a:ea typeface="Arial"/>
                <a:cs typeface="Arial"/>
              </a:rPr>
              <a:t>Rethink Sans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0EBDB-5DC4-49E5-BD23-970FA51B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44A4C"/>
                </a:solidFill>
                <a:latin typeface="Arial"/>
                <a:ea typeface="Arial"/>
                <a:cs typeface="Arial"/>
              </a:rPr>
              <a:t>Corpo, interface e explicações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FB330-5DB5-4306-A966-0547DBA6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267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8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5191B"/>
                </a:solidFill>
                <a:latin typeface="Arial"/>
                <a:ea typeface="Arial"/>
                <a:cs typeface="Arial"/>
              </a:rPr>
              <a:t>Uma leitura limpa, gentil e direta para decisões do dia a dia. Valores financeiros usam algarismos tabulares.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C8BE6-1FA9-41CE-AF2E-7A55A0F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52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Caveat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F544E-CF0B-455B-A98F-ACC2FF4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44A4C"/>
                </a:solidFill>
                <a:latin typeface="Arial"/>
                <a:ea typeface="Arial"/>
                <a:cs typeface="Arial"/>
              </a:rPr>
              <a:t>Uso raro em bilhetes de incentivo. Nunca em dados ou instruções.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3A398-B1B0-4CA1-A074-C70D77E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Arquivos OFL incluídos no kit: Saira, Rethink Sans e Caveat</a:t>
            </a:r>
          </a:p>
        </p:txBody>
      </p:sp>
    </p:spTree>
    <p:extLst>
      <p:ext uri="{BB962C8B-B14F-4D97-AF65-F5344CB8AC3E}">
        <p14:creationId xmlns:p14="http://schemas.microsoft.com/office/powerpoint/2010/main" val="1679923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2F139-7B94-410C-A398-AE2F7B6F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LINGUAGEM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54291-23AA-42C0-A14E-5A145AB0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Voz que orienta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10B05-E4D3-4567-8517-7923AA79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D160D-5253-4091-A9A1-9AC1984E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C9777-BFA2-4275-8E5D-B7883089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143500" cy="3752850"/>
          </a:xfrm>
          <a:prstGeom xmlns:a="http://schemas.openxmlformats.org/drawingml/2006/main" prst="roundRect">
            <a:avLst>
              <a:gd name="adj" fmla="val 3553"/>
            </a:avLst>
          </a:prstGeom>
          <a:solidFill xmlns:a="http://schemas.openxmlformats.org/drawingml/2006/main">
            <a:srgbClr val="F8F3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77A52-58B0-429A-A46E-8E0205EB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SOA COLMEIA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79A0-9E4C-41FC-AF73-0AA33610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26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98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“Este mês ficou apertado. Comece pelas categorias que mais pesaram.”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9DBBE-13BD-45CD-A018-55E1D67B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248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44A4C"/>
                </a:solidFill>
                <a:latin typeface="Arial"/>
                <a:ea typeface="Arial"/>
                <a:cs typeface="Arial"/>
              </a:rPr>
              <a:t>Reconhece a realidade, explica o dado e oferece um próximo passo possível.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5B417-7393-49B8-94B0-1C99A01C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3746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C93746"/>
                </a:solidFill>
                <a:latin typeface="Bahnschrift"/>
                <a:ea typeface="Bahnschrift"/>
                <a:cs typeface="Bahnschrift"/>
              </a:rPr>
              <a:t>EVITAR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E5036-F99C-4D6C-896B-368318F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“Você gastou demais. Corte despesas imediatamente.”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AE067-D194-4C47-90C3-A0E4E111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4229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44A4C"/>
                </a:solidFill>
                <a:latin typeface="Arial"/>
                <a:ea typeface="Arial"/>
                <a:cs typeface="Arial"/>
              </a:rPr>
              <a:t>Culpa, alarmismo, promessa fácil, jargão bancário e qualquer tom que retire a autonomia da pessoa.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C5B3F-1BC7-42F4-A07D-000205FF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Frases curtas. Verbos concretos. Números com contexto.</a:t>
            </a:r>
          </a:p>
        </p:txBody>
      </p:sp>
    </p:spTree>
    <p:extLst>
      <p:ext uri="{BB962C8B-B14F-4D97-AF65-F5344CB8AC3E}">
        <p14:creationId xmlns:p14="http://schemas.microsoft.com/office/powerpoint/2010/main" val="24077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76CE9-34E7-4B7A-835A-6F47994E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COMPOSIÇÃO E IMAGEM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32AD3-A997-41FB-B532-9A3A4B95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Ritmo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FFC43-7491-4C66-9908-991A0C6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C7FBB-B093-49A6-9813-2C8BABD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4319831284223"/>
          <a:srcRect xmlns:a="http://schemas.openxmlformats.org/drawingml/2006/main" l="0" t="3571" r="0" b="3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5600700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799AF-5F4B-4C35-8645-35DB657A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78AA9-48C6-429E-98B5-39D8A3AD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812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Uma manchete por tela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8A3F7-83A1-4329-B568-FB948BF3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8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A hierarquia explica antes dos componentes.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E7B28-03CC-4464-8D25-38D696DA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4383B-8B29-42E5-8C23-57D4052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242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Fotografia com luz natural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2A642-EF1E-4171-B668-F84DAAE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Calor, silêncio visual e cenas plausíveis do cotidiano.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D4FC0-44DD-4408-A9A8-35A988DF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268F6-652D-48D2-982D-1364802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Hexágono como assinatura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35C4F-60F3-4767-B1EE-80FDB49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24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Não transformar todos os cards, botões ou fotos em colmeias.</a:t>
            </a:r>
          </a:p>
        </p:txBody>
      </p:sp>
    </p:spTree>
    <p:extLst>
      <p:ext uri="{BB962C8B-B14F-4D97-AF65-F5344CB8AC3E}">
        <p14:creationId xmlns:p14="http://schemas.microsoft.com/office/powerpoint/2010/main" val="2342924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5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4A5B6-7FF8-4713-917B-20C0474E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PRODUTO DIGITAL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EADF0-F934-4C4C-AA19-CBB1792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 marca em uso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49277a48047a2"/>
          <a:stretch xmlns:a="http://schemas.openxmlformats.org/drawingml/2006/main"/>
        </p:blipFill>
        <p:spPr>
          <a:xfrm xmlns:a="http://schemas.openxmlformats.org/drawingml/2006/main">
            <a:off x="2849600" y="1600200"/>
            <a:ext cx="6492800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007E2-A50D-4AA3-96E3-22ED9D8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3246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CFCC"/>
                </a:solidFill>
                <a:latin typeface="Bahnschrift"/>
                <a:ea typeface="Bahnschrift"/>
                <a:cs typeface="Bahnschrift"/>
              </a:defRPr>
            </a:pPr>
            <a:r>
              <a:rPr sz="825" b="1">
                <a:solidFill>
                  <a:srgbClr val="D8CFCC"/>
                </a:solidFill>
                <a:latin typeface="Bahnschrift"/>
                <a:ea typeface="Bahnschrift"/>
                <a:cs typeface="Bahnschrift"/>
              </a:rPr>
              <a:t>Dados de demonstração fictícios</a:t>
            </a:r>
          </a:p>
        </p:txBody>
      </p:sp>
    </p:spTree>
    <p:extLst>
      <p:ext uri="{BB962C8B-B14F-4D97-AF65-F5344CB8AC3E}">
        <p14:creationId xmlns:p14="http://schemas.microsoft.com/office/powerpoint/2010/main" val="137049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7A4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6147c9cc04d43"/>
          <a:stretch xmlns:a="http://schemas.openxmlformats.org/drawingml/2006/main"/>
        </p:blipFill>
        <p:spPr>
          <a:xfrm xmlns:a="http://schemas.openxmlformats.org/drawingml/2006/main">
            <a:off x="704850" y="5334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6999D-B0B2-4561-8691-88D3E955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239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95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G2 APROVADO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89FD3-72D2-41A8-A04A-788A7A8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 que este gate consolida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AF2A8-D44C-4554-BC7A-8BEDDAA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048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Símbolo de três células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Paleta editorial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Tipografia e hierarquia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Voz e linguagem de imagem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302AB-C10C-4804-9DB8-83B105B0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49530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E2841-AD19-4B16-AF6A-1873180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Após o G2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95759-4FE0-47A2-B9C4-B1905D44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3924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9E2D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9E2DF"/>
                </a:solidFill>
                <a:latin typeface="Arial"/>
                <a:ea typeface="Arial"/>
                <a:cs typeface="Arial"/>
              </a:rPr>
              <a:t>O Brandbook completo recebe aplicações, regras de uso, acessibilidade e arquivos finais. A versão fechada segue para o G3.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5ED1-0CD7-409B-ACB6-D74A09A2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Resposta sugerida: APROVADO G2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A8B-06D6-4A6D-9A2A-7D69707A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3D1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8F3D1"/>
                </a:solidFill>
                <a:latin typeface="Bahnschrift"/>
                <a:ea typeface="Bahnschrift"/>
                <a:cs typeface="Bahnschrift"/>
              </a:rPr>
              <a:t>Prévia preparada em 10/09/2026</a:t>
            </a:r>
          </a:p>
        </p:txBody>
      </p:sp>
    </p:spTree>
    <p:extLst>
      <p:ext uri="{BB962C8B-B14F-4D97-AF65-F5344CB8AC3E}">
        <p14:creationId xmlns:p14="http://schemas.microsoft.com/office/powerpoint/2010/main" val="19891737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93651-A1CA-42BD-A703-1745340B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IDENTIDADE VISUAL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9D78C-B1D9-477B-85DB-ACDB63F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Versões e respiro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09E74-8CC7-4937-A202-E84B465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BD45E-E485-484F-B9ED-18F07C8A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3F395-5BFB-4F8E-ADFD-F6A6E290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147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00e5c1e4049a0"/>
          <a:stretch xmlns:a="http://schemas.openxmlformats.org/drawingml/2006/main"/>
        </p:blipFill>
        <p:spPr>
          <a:xfrm xmlns:a="http://schemas.openxmlformats.org/drawingml/2006/main">
            <a:off x="1752600" y="228600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23C6D-151D-404B-92E3-74B400A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COLMEIA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477B8-51FC-4E7B-B596-BA85308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44A4C"/>
                </a:solidFill>
                <a:latin typeface="Arial"/>
                <a:ea typeface="Arial"/>
                <a:cs typeface="Arial"/>
              </a:rPr>
              <a:t>Fundos claros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19148-7138-4965-BBA8-BE0F2F97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3147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bbe2219934a12"/>
          <a:stretch xmlns:a="http://schemas.openxmlformats.org/drawingml/2006/main"/>
        </p:blipFill>
        <p:spPr>
          <a:xfrm xmlns:a="http://schemas.openxmlformats.org/drawingml/2006/main">
            <a:off x="5391150" y="228600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9419E-2BC2-4911-B514-21974F46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00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COLMEIA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4555B-182A-416D-9527-BB0AE01C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38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44A4C"/>
                </a:solidFill>
                <a:latin typeface="Arial"/>
                <a:ea typeface="Arial"/>
                <a:cs typeface="Arial"/>
              </a:rPr>
              <a:t>Fundos escuros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77B3A-FEA6-435A-8FD9-B11BD5FF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33147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7A4526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ccc08444e4d1e"/>
          <a:stretch xmlns:a="http://schemas.openxmlformats.org/drawingml/2006/main"/>
        </p:blipFill>
        <p:spPr>
          <a:xfrm xmlns:a="http://schemas.openxmlformats.org/drawingml/2006/main">
            <a:off x="9029700" y="228600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D73A1-ABCE-4B2F-8065-DC963A6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COLMEIA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22F99-FE12-41AF-9693-B4EB37FB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38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44A4C"/>
                </a:solidFill>
                <a:latin typeface="Arial"/>
                <a:ea typeface="Arial"/>
                <a:cs typeface="Arial"/>
              </a:rPr>
              <a:t>Campo institucional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98B19-6545-479F-8BD8-0F1706E7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44A4C"/>
                </a:solidFill>
                <a:latin typeface="Arial"/>
                <a:ea typeface="Arial"/>
                <a:cs typeface="Arial"/>
              </a:rPr>
              <a:t>Preferir a assinatura completa em materiais institucionais. Usar somente o símbolo quando o nome já estiver visível ou o espaço for reduzido.</a:t>
            </a:r>
          </a:p>
        </p:txBody>
      </p:sp>
    </p:spTree>
    <p:extLst>
      <p:ext uri="{BB962C8B-B14F-4D97-AF65-F5344CB8AC3E}">
        <p14:creationId xmlns:p14="http://schemas.microsoft.com/office/powerpoint/2010/main" val="1892887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E758F-0812-4066-8840-DAFBFFD9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IDENTIDADE VISUAL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EC0B9-D657-41DB-AA53-5A6D938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Usos a evitar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6EFD8-22C5-46AA-9FA8-5E8D45B6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E3C8F-305F-4909-8540-0F957F4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3FAB3-89C3-4938-BA64-D2B5EF8A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49FAF-3C70-4269-9022-E6807089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rPr>
              <a:t>NÃO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E7A95-42E4-4960-B48C-E212907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Distorcer ou inclinar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3966F-1B90-4EBE-B598-7B303756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4953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C191E-CBE8-4BAE-B8FE-1DFB78C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rPr>
              <a:t>NÃO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68CDB-1A98-4D55-B10D-A15B88E3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Aplicar sombras ou gradientes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09F22-D5B2-4578-89E3-6AFDFC29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953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83BA5-C48D-4E68-B241-57FDB07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rPr>
              <a:t>NÃO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A4C80-1593-441D-89F4-ED41B46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766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Trocar as cores das células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DEB96-3B74-4217-AA80-01CEAC30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4953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216D7-C260-4734-8116-939BF5A8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rPr>
              <a:t>NÃO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A4468-87CA-4C75-954C-7E99EAEA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Repetir como textura decorativa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83BFD-48A2-4C77-8599-AC8DE982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53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C45C9-CFF4-4A48-A413-37F98C82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rPr>
              <a:t>NÃO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54B73-190F-4862-BD30-9B47336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Reduzir abaixo de 24 px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601D1-C149-47CA-B729-7C91300A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4953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C0061-8AD1-41D6-B6A5-357BAB31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C93746"/>
                </a:solidFill>
                <a:latin typeface="Bahnschrift"/>
                <a:ea typeface="Bahnschrift"/>
                <a:cs typeface="Bahnschrift"/>
              </a:rPr>
              <a:t>NÃO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B4D28-5D64-4CD8-B66A-34EA167F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Encaixar em outro hexágono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51E11-6290-4361-A96B-493468EE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44A4C"/>
                </a:solidFill>
                <a:latin typeface="Arial"/>
                <a:ea typeface="Arial"/>
                <a:cs typeface="Arial"/>
              </a:rPr>
              <a:t>Consistência protege reconhecimento. Se uma aplicação exigir adaptação, preservar proporção, cor e área de respiro.</a:t>
            </a:r>
          </a:p>
        </p:txBody>
      </p:sp>
    </p:spTree>
    <p:extLst>
      <p:ext uri="{BB962C8B-B14F-4D97-AF65-F5344CB8AC3E}">
        <p14:creationId xmlns:p14="http://schemas.microsoft.com/office/powerpoint/2010/main" val="18750545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3AC5A-9BF6-403C-89C0-B3491064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TIPOGRAFIA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9D681-11B3-46CF-95C4-C506D74E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Escala tipográfica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18E1E-5AF6-4B6A-9600-A2B5B4BE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B66CC-9E9F-48A8-BD42-A00D3C52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3DCBB-25D9-41C1-9777-4531F5B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Display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62C6C-0F38-44AD-A752-35D3820C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Saira 700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7C337-EB10-421A-A5D9-5DCEB9EF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48–64 px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D796D-40B5-44F8-8F2A-915552B7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0C386-8819-4840-B8F9-B51DAA1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Título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FF1FF-DD29-40F6-BF8A-3D73B69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Saira 700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B0252-0057-48F9-A5B3-B13BE35F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32–42 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F7D8D-E1EF-4F22-ABD4-95254FB0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BC4A8-8D58-462C-9F05-BC4847DD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Seção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E6B73-0980-46D9-96F9-1CF855FC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Saira 600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E1190-2418-4606-99D2-41E71472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22–28 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0FDBD-3A61-4418-BD24-16222E1F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513CC-27C7-49D8-84FC-DBFF5322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191B"/>
                </a:solidFill>
                <a:latin typeface="Arial"/>
                <a:ea typeface="Arial"/>
                <a:cs typeface="Arial"/>
              </a:rPr>
              <a:t>Corpo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F51F8-6B55-4164-A00D-61613A3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Rethink Sans 400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A1175-6B15-401B-AE9D-F0EBAF11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16–18 px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75EAA-4CB9-4DE4-B407-B8F6A36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E99D2-BE81-4984-A152-D0E12B40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191B"/>
                </a:solidFill>
                <a:latin typeface="Arial"/>
                <a:ea typeface="Arial"/>
                <a:cs typeface="Arial"/>
              </a:rPr>
              <a:t>Rótulo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A08E6-5E68-45F3-B22C-ECD9C13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Rethink Sans 600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EEAEE-5917-4C2E-B01D-293D767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13–15 px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F0A35-7F16-4921-91AD-82326780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C14D0-9EF1-4879-AE7E-E293607D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191B"/>
                </a:solidFill>
                <a:latin typeface="Arial"/>
                <a:ea typeface="Arial"/>
                <a:cs typeface="Arial"/>
              </a:rPr>
              <a:t>Bilhete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D076C-8F37-4EB7-88DF-01AA1D8C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Caveat 500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1DEB1-9ED3-4BAE-929C-B7B81952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48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20–28 px</a:t>
            </a:r>
          </a:p>
        </p:txBody>
      </p:sp>
    </p:spTree>
    <p:extLst>
      <p:ext uri="{BB962C8B-B14F-4D97-AF65-F5344CB8AC3E}">
        <p14:creationId xmlns:p14="http://schemas.microsoft.com/office/powerpoint/2010/main" val="420838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29B39-422F-4EF4-9DB5-1477E59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9A92F"/>
                </a:solidFill>
                <a:latin typeface="Bahnschrift"/>
                <a:ea typeface="Bahnschrift"/>
                <a:cs typeface="Bahnschrift"/>
              </a:rPr>
              <a:t>PRODUTO DIGITAL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3FA91-C969-4076-8E81-357DCC88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Interface que orienta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CA1B-8B00-44F0-A0BA-F09A0B3F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0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EBC72-95F0-4D53-B956-C50BBF9C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372C2-BC03-4BCF-B7A3-00B8D61F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Ação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C481D-3B30-442C-B2DE-1A2C3AD7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57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FD977-7D8D-4467-9E9D-C567924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Nova transação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77AFE-B812-49C3-B4E2-3587169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44A4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44A4C"/>
                </a:solidFill>
                <a:latin typeface="Bahnschrift"/>
                <a:ea typeface="Bahnschrift"/>
                <a:cs typeface="Bahnschrift"/>
              </a:rPr>
              <a:t>Campo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7DCDE-E173-44C7-A338-BB5996B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2F957-73E0-4B70-BACA-0DE04ADE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4A4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44A4C"/>
                </a:solidFill>
                <a:latin typeface="Arial"/>
                <a:ea typeface="Arial"/>
                <a:cs typeface="Arial"/>
              </a:rPr>
              <a:t>Ex.: mercado do mês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3BF2F-C7B9-49AF-8EF4-5D6E829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47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Categorias do mês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FA772-2681-428D-93E5-5CD776F2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5191B"/>
                </a:solidFill>
                <a:latin typeface="Arial"/>
                <a:ea typeface="Arial"/>
                <a:cs typeface="Arial"/>
              </a:rPr>
              <a:t>Moradia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9B58A-0741-4FA1-B6D7-21483EA6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38425"/>
            <a:ext cx="3143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9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001FE-C0E2-4F0A-B948-68A6B1EC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38425"/>
            <a:ext cx="257746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92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29D27-BDE6-414A-A6BF-3FA541DE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5191B"/>
                </a:solidFill>
                <a:latin typeface="Arial"/>
                <a:ea typeface="Arial"/>
                <a:cs typeface="Arial"/>
              </a:rPr>
              <a:t>Alimentação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352E0-6FCC-467E-ADD9-BE3F7A5B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3143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9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A5DB1-91D5-4FE7-AE3F-661A0B6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176022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79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D8549-264E-45E4-A65F-842DFB8E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67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5191B"/>
                </a:solidFill>
                <a:latin typeface="Arial"/>
                <a:ea typeface="Arial"/>
                <a:cs typeface="Arial"/>
              </a:rPr>
              <a:t>Transporte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5DEC3-055B-447C-9A17-7EE36DD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33825"/>
            <a:ext cx="3143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9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63EA6-4F98-4575-B1A2-1EEEC837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33825"/>
            <a:ext cx="119443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4A4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7A4E1-60E3-41C2-B1F0-F82A949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14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191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5191B"/>
                </a:solidFill>
                <a:latin typeface="Arial"/>
                <a:ea typeface="Arial"/>
                <a:cs typeface="Arial"/>
              </a:rPr>
              <a:t>Saúde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DE8EC-E61B-4A8A-94EA-CE5D3D28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81525"/>
            <a:ext cx="3143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9D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AC20B-C75D-438A-B3B4-DAAE3C2C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81525"/>
            <a:ext cx="69151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37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51548-CE83-4F6A-8DF9-7A6BA719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191B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5191B"/>
                </a:solidFill>
                <a:latin typeface="Bahnschrift"/>
                <a:ea typeface="Bahnschrift"/>
                <a:cs typeface="Bahnschrift"/>
              </a:rPr>
              <a:t>Ações nomeiam verbos. Foco é visível. Estados não dependem só de cor. Gráficos sempre mostram período e unidade.</a:t>
            </a:r>
          </a:p>
        </p:txBody>
      </p:sp>
    </p:spTree>
    <p:extLst>
      <p:ext uri="{BB962C8B-B14F-4D97-AF65-F5344CB8AC3E}">
        <p14:creationId xmlns:p14="http://schemas.microsoft.com/office/powerpoint/2010/main" val="34311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5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4C217-747D-4748-8C48-D71067D5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ACESSIBILIDADE E CONFIANÇA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9F711-5EC9-446C-9131-4C515E7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Clareza também é inclusão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44C29-359E-4D9D-9703-9557220B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3428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0B69A-A360-4CD6-993C-87399E97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AA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3FCE4-C4FD-44A4-BAA9-E4DF6B33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717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Contraste de texto e controles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E4069-F926-4F21-A236-EBBD329B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4953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3428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71D0-5558-4FDA-8F04-A54EE10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44 px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6C2AD-FD41-46B2-BA62-6DB1575E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717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Alvos de toque mínimos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CC8C5-3A21-420E-B2A5-06A995C2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953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3428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3D03E-BF66-472C-8FA9-466FEDBF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TECLADO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0804E-EFE0-4D0F-AC17-FAB26669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71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Navegação completa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6059F-2AFD-44C4-A208-A33BDE4E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00400"/>
            <a:ext cx="4953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3428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693FF-BF7F-4801-920B-B596A794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C9437-BFC4-4B60-BB1C-3B4DD7C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71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Alternativas para imagens e gráficos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3F816-0146-4E91-9617-1B6878A5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953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3428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5E5E4-0B2C-41BD-8B57-8AD58ABA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MOVIMENTO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9E099-8123-4377-A295-C36CFCE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72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Preferência reduzida preservada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AEB6D-0E54-450A-AFE7-B856BBCD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4953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3428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7519D-27F2-43E8-A2B6-2141FBF1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DADOS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E543B-7635-494D-9813-3F844EE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Unidade, período e privacidade visíveis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2C146-EBB4-4D4D-BB28-FCDC13F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Privacidade deve ser compreensível: sincronização, cache, backup e limitações nunca ficam escondidos.</a:t>
            </a:r>
          </a:p>
        </p:txBody>
      </p:sp>
    </p:spTree>
    <p:extLst>
      <p:ext uri="{BB962C8B-B14F-4D97-AF65-F5344CB8AC3E}">
        <p14:creationId xmlns:p14="http://schemas.microsoft.com/office/powerpoint/2010/main" val="5753322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7A4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e4e1e07554388"/>
          <a:stretch xmlns:a="http://schemas.openxmlformats.org/drawingml/2006/main"/>
        </p:blipFill>
        <p:spPr>
          <a:xfrm xmlns:a="http://schemas.openxmlformats.org/drawingml/2006/main">
            <a:off x="704850" y="5334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1D40E-7888-41D0-B3AB-5C09B3B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239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95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GOVERNANÇA DA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2CE6A-A4CA-4A84-9E58-4416D0D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3D1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3D1"/>
                </a:solidFill>
                <a:latin typeface="Bahnschrift"/>
                <a:ea typeface="Bahnschrift"/>
                <a:cs typeface="Bahnschrift"/>
              </a:rPr>
              <a:t>Responsável pela marca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D5FA9-EB7F-4122-85B9-78355F16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Laura Mendes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DD136-9C72-41BA-9011-FED911F2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3D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8F3D1"/>
                </a:solidFill>
                <a:latin typeface="Arial"/>
                <a:ea typeface="Arial"/>
                <a:cs typeface="Arial"/>
              </a:rPr>
              <a:t>Versão 1.2 — setembro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4B475-FAE2-48E3-8F71-516870D9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54292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77C59-4A05-436C-8437-E695DEAB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Gate G3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A5184-7278-4B37-B42D-59B05F77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428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9E2D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9E2DF"/>
                </a:solidFill>
                <a:latin typeface="Arial"/>
                <a:ea typeface="Arial"/>
                <a:cs typeface="Arial"/>
              </a:rPr>
              <a:t>Aprova o Brandbook final, a interface revisada e o pacote de publicação. O deploy continua condicionado à autorização técnica explícita do Lucas.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4C3E8-2FDC-43BA-A550-5FA14FF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C055"/>
                </a:solidFill>
                <a:latin typeface="Bahnschrift"/>
                <a:ea typeface="Bahnschrift"/>
                <a:cs typeface="Bahnschrift"/>
              </a:rPr>
              <a:t>Sem aprovação, não publicar.</a:t>
            </a:r>
          </a:p>
        </p:txBody>
      </p:sp>
    </p:spTree>
    <p:extLst>
      <p:ext uri="{BB962C8B-B14F-4D97-AF65-F5344CB8AC3E}">
        <p14:creationId xmlns:p14="http://schemas.microsoft.com/office/powerpoint/2010/main" val="1041916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2026-09-10T23:00:19.8690000Z</dcterms:created>
  <dcterms:modified xsi:type="dcterms:W3CDTF">2026-09-10T23:00:19.8700000Z</dcterms:modified>
</coreProperties>
</file>